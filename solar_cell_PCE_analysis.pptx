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cd6da07-3d7c-fce3-ca9c-fbe7c7b27b40}">
          <p14:sldIdLst>
            <p14:sldId id="256"/>
            <p14:sldId id="257"/>
          </p14:sldIdLst>
        </p14:section>
        <p14:section name="Data" id="{55412ec7-b28b-6ea2-176c-cee020efd2a7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odels" id="{e633ef67-f600-f095-52b9-d8d307aa86fb}">
          <p14:sldIdLst>
            <p14:sldId id="264"/>
            <p14:sldId id="265"/>
            <p14:sldId id="266"/>
            <p14:sldId id="267"/>
            <p14:sldId id="268"/>
          </p14:sldIdLst>
        </p14:section>
        <p14:section name="Insights" id="{a10d2c9b-e3a0-14ff-ee46-0be974ed1117}">
          <p14:sldIdLst>
            <p14:sldId id="269"/>
            <p14:sldId id="270"/>
            <p14:sldId id="271"/>
            <p14:sldId id="272"/>
            <p14:sldId id="273"/>
          </p14:sldIdLst>
        </p14:section>
        <p14:section name="Wrap-up" id="{e458e37d-0f27-2dcc-8e34-d3f5787f386e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Rows kept vs removed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Kept</c:v>
                </c:pt>
                <c:pt idx="1">
                  <c:v>Removed (no PCE)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19588</c:v>
                </c:pt>
                <c:pt idx="1">
                  <c:v>412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Missing values per column (of 20,000 rows)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Perovskite_thickness</c:v>
                  </c:pt>
                  <c:pt idx="1">
                    <c:v>Backcontact_thickness_list</c:v>
                  </c:pt>
                  <c:pt idx="2">
                    <c:v>JV_default_Jsc</c:v>
                  </c:pt>
                  <c:pt idx="3">
                    <c:v>JV_default_FF</c:v>
                  </c:pt>
                  <c:pt idx="4">
                    <c:v>JV_default_Voc</c:v>
                  </c:pt>
                  <c:pt idx="5">
                    <c:v>JV_default_PCE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8028</c:v>
                </c:pt>
                <c:pt idx="1">
                  <c:v>748</c:v>
                </c:pt>
                <c:pt idx="2">
                  <c:v>611</c:v>
                </c:pt>
                <c:pt idx="3">
                  <c:v>607</c:v>
                </c:pt>
                <c:pt idx="4">
                  <c:v>594</c:v>
                </c:pt>
                <c:pt idx="5">
                  <c:v>412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33 model features by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E7C8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2233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2233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Numeric (13)</c:v>
                </c:pt>
                <c:pt idx="1">
                  <c:v>Categorical (20)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</c:v>
                </c:pt>
                <c:pt idx="1">
                  <c:v>20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Ridge R²: cross-validation vs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Ridge R²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5-fold CV (train)</c:v>
                  </c:pt>
                  <c:pt idx="1">
                    <c:v>Held-out 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0.5921</c:v>
                </c:pt>
                <c:pt idx="1">
                  <c:v>0.5379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Mean RMSE, 5-fold CV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RMSE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Stacking</c:v>
                  </c:pt>
                  <c:pt idx="1">
                    <c:v>Ridge</c:v>
                  </c:pt>
                  <c:pt idx="2">
                    <c:v>Voting</c:v>
                  </c:pt>
                  <c:pt idx="3">
                    <c:v>Gradient Boosting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1.9595</c:v>
                </c:pt>
                <c:pt idx="1">
                  <c:v>1.9633</c:v>
                </c:pt>
                <c:pt idx="2">
                  <c:v>1.9736</c:v>
                </c:pt>
                <c:pt idx="3">
                  <c:v>2.009</c:v>
                </c:pt>
                <c:pt idx="4">
                  <c:v>2.0999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Test-set R²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8AA1B8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Voting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0.5379</c:v>
                </c:pt>
                <c:pt idx="1">
                  <c:v>0.4522</c:v>
                </c:pt>
                <c:pt idx="2">
                  <c:v>0.5196</c:v>
                </c:pt>
                <c:pt idx="3">
                  <c:v>0.5255</c:v>
                </c:pt>
                <c:pt idx="4">
                  <c:v>0.538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Test MAE and RMSE (PCE points,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Voting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1.5846</c:v>
                </c:pt>
                <c:pt idx="1">
                  <c:v>1.7258</c:v>
                </c:pt>
                <c:pt idx="2">
                  <c:v>1.6109</c:v>
                </c:pt>
                <c:pt idx="3">
                  <c:v>1.6021</c:v>
                </c:pt>
                <c:pt idx="4">
                  <c:v>1.5832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Voting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2.0007</c:v>
                </c:pt>
                <c:pt idx="1">
                  <c:v>2.1782</c:v>
                </c:pt>
                <c:pt idx="2">
                  <c:v>2.0399</c:v>
                </c:pt>
                <c:pt idx="3">
                  <c:v>2.0273</c:v>
                </c:pt>
                <c:pt idx="4">
                  <c:v>2.0005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Permutation importance (increase in MSE)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B-site ions</c:v>
                  </c:pt>
                  <c:pt idx="1">
                    <c:v>A-site ions</c:v>
                  </c:pt>
                  <c:pt idx="2">
                    <c:v>C-site ions</c:v>
                  </c:pt>
                  <c:pt idx="3">
                    <c:v>Composition short form</c:v>
                  </c:pt>
                  <c:pt idx="4">
                    <c:v>Quenching crystallisation</c:v>
                  </c:pt>
                  <c:pt idx="5">
                    <c:v>Additive concentration</c:v>
                  </c:pt>
                  <c:pt idx="6">
                    <c:v>HTL stack</c:v>
                  </c:pt>
                  <c:pt idx="7">
                    <c:v>ETL deposition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5.2896</c:v>
                </c:pt>
                <c:pt idx="1">
                  <c:v>0.6917</c:v>
                </c:pt>
                <c:pt idx="2">
                  <c:v>0.5145</c:v>
                </c:pt>
                <c:pt idx="3">
                  <c:v>0.3731</c:v>
                </c:pt>
                <c:pt idx="4">
                  <c:v>0.2635</c:v>
                </c:pt>
                <c:pt idx="5">
                  <c:v>0.2235</c:v>
                </c:pt>
                <c:pt idx="6">
                  <c:v>0.201</c:v>
                </c:pt>
                <c:pt idx="7">
                  <c:v>0.1334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Anomalies flagged (of 2,000 records)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Isolation Forest</c:v>
                  </c:pt>
                  <c:pt idx="1">
                    <c:v>LOF</c:v>
                  </c:pt>
                  <c:pt idx="2">
                    <c:v>One-Class 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0</c:v>
                </c:pt>
                <c:pt idx="2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Interval coverage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8AA1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A1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Nominal target</c:v>
                  </c:pt>
                  <c:pt idx="1">
                    <c:v>Observed on test set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88.62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All numbers in this deck come from the outputs saved in solar_dataset_FINAL.ipynb.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stages, from raw records to explained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raw file has 20,000 rows and 30 columns with no duplicates. Removing rows without a PCE value leaves 19,588.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describes one cell recipe plus its measured photovoltaic outputs. The five output columns are excluded from the model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Perovskite thickness is the one column with a large gap (8,028 of 20,000). The rest are small. Median or most-frequent imputation inside the pipeline handles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PCE is centred near 15% with a long tail up to 25.5%. A small cluster of low-efficiency cells sits below about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statistics from df.describe(). Voc and Jsc units follow standard convention for this kind of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 are removed from the inputs so the model cannot see them. Sequence and additive strings are turned into count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models use the same preprocessing. The split is 80/20 with random_state 42, and cross-validation runs on the training portion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reaches a test R² of 0.538. The cross-validation mean is higher at 0.592, about 0.054 above the test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has the lowest RMSE, but Ridge is within 0.004. Random Forest is clearly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and Ridge are tied on the test set. Random Forest has the lowest R² at 0.452.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has the lowest MAE and RMSE, but only by a hair. All five models predict the mean PCE almost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on the test set, measured as the increase in squared error when a column is shuffled. B-site ions dominate. Only 844 of 20,000 cells lack Pb, so this may reflect a small, distinct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read from the beeswarm plot and are approximate. SHAP was run on 20 test samples with a 100-sample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2,000-record sample of the processed training data was scored by each method. Isolation Forest's 51 flagged records were traced back to the original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Intervals come from quantile Gradient Boosting models at the 5th and 95th percentiles. Coverage is 88.62% against a 90%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Low-efficiency cells track the diagonal. Above about 15% the model compresses predictions toward the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takeaways to close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come from the notebook outputs. Next steps are suggestions.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690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Perovskite solar cell PCE modelling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Perovskite solar cell PCE modelling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Predicting Perovskite Solar Cell Efficiency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69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Machine-learning analysis of 20,000 device records. Target: power conversion efficiency (PCE).</a:t>
            </a:r>
            <a:endParaRPr lang="en-US" sz="1800" dirty="0"/>
          </a:p>
        </p:txBody>
      </p:sp>
      <p:sp>
        <p:nvSpPr>
          <p:cNvPr id="4" name="Sun ring 1"/>
          <p:cNvSpPr/>
          <p:nvPr/>
        </p:nvSpPr>
        <p:spPr>
          <a:xfrm>
            <a:off x="6675120" y="868680"/>
            <a:ext cx="5120640" cy="5120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un ring 2"/>
          <p:cNvSpPr/>
          <p:nvPr/>
        </p:nvSpPr>
        <p:spPr>
          <a:xfrm>
            <a:off x="7406640" y="160020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un ring 3"/>
          <p:cNvSpPr/>
          <p:nvPr/>
        </p:nvSpPr>
        <p:spPr>
          <a:xfrm>
            <a:off x="8138160" y="233172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at a glance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548640" y="155448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badge 1 number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title 1"/>
          <p:cNvSpPr txBox="1"/>
          <p:nvPr/>
        </p:nvSpPr>
        <p:spPr>
          <a:xfrm>
            <a:off x="777240" y="256032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Explore &amp; clean</a:t>
            </a:r>
            <a:endParaRPr lang="en-US" sz="2000" dirty="0"/>
          </a:p>
        </p:txBody>
      </p:sp>
      <p:sp>
        <p:nvSpPr>
          <p:cNvPr id="8" name="Step text 1"/>
          <p:cNvSpPr txBox="1"/>
          <p:nvPr/>
        </p:nvSpPr>
        <p:spPr>
          <a:xfrm>
            <a:off x="777240" y="3429000"/>
            <a:ext cx="1578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20,000 records and drop rows with no PCE.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812694" y="155448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badge 2"/>
          <p:cNvSpPr/>
          <p:nvPr/>
        </p:nvSpPr>
        <p:spPr>
          <a:xfrm>
            <a:off x="3041294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badge 2 number"/>
          <p:cNvSpPr txBox="1"/>
          <p:nvPr/>
        </p:nvSpPr>
        <p:spPr>
          <a:xfrm>
            <a:off x="304129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title 2"/>
          <p:cNvSpPr txBox="1"/>
          <p:nvPr/>
        </p:nvSpPr>
        <p:spPr>
          <a:xfrm>
            <a:off x="3041294" y="256032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Engineer features</a:t>
            </a:r>
            <a:endParaRPr lang="en-US" sz="2000" dirty="0"/>
          </a:p>
        </p:txBody>
      </p:sp>
      <p:sp>
        <p:nvSpPr>
          <p:cNvPr id="13" name="Step text 2"/>
          <p:cNvSpPr txBox="1"/>
          <p:nvPr/>
        </p:nvSpPr>
        <p:spPr>
          <a:xfrm>
            <a:off x="3041294" y="3429000"/>
            <a:ext cx="1578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outputs out of the inputs and add count features.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5076749" y="155448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badge 3"/>
          <p:cNvSpPr/>
          <p:nvPr/>
        </p:nvSpPr>
        <p:spPr>
          <a:xfrm>
            <a:off x="5305349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badge 3 number"/>
          <p:cNvSpPr txBox="1"/>
          <p:nvPr/>
        </p:nvSpPr>
        <p:spPr>
          <a:xfrm>
            <a:off x="5305349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title 3"/>
          <p:cNvSpPr txBox="1"/>
          <p:nvPr/>
        </p:nvSpPr>
        <p:spPr>
          <a:xfrm>
            <a:off x="5305349" y="256032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Train five models</a:t>
            </a:r>
            <a:endParaRPr lang="en-US" sz="2000" dirty="0"/>
          </a:p>
        </p:txBody>
      </p:sp>
      <p:sp>
        <p:nvSpPr>
          <p:cNvPr id="18" name="Step text 3"/>
          <p:cNvSpPr txBox="1"/>
          <p:nvPr/>
        </p:nvSpPr>
        <p:spPr>
          <a:xfrm>
            <a:off x="5305349" y="3429000"/>
            <a:ext cx="1578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Ridge, Random Forest, Gradient Boosting, Voting, Stacking.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7340803" y="155448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badge 4"/>
          <p:cNvSpPr/>
          <p:nvPr/>
        </p:nvSpPr>
        <p:spPr>
          <a:xfrm>
            <a:off x="7569403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badge 4 number"/>
          <p:cNvSpPr txBox="1"/>
          <p:nvPr/>
        </p:nvSpPr>
        <p:spPr>
          <a:xfrm>
            <a:off x="7569403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title 4"/>
          <p:cNvSpPr txBox="1"/>
          <p:nvPr/>
        </p:nvSpPr>
        <p:spPr>
          <a:xfrm>
            <a:off x="7569403" y="256032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Evaluate</a:t>
            </a:r>
            <a:endParaRPr lang="en-US" sz="2000" dirty="0"/>
          </a:p>
        </p:txBody>
      </p:sp>
      <p:sp>
        <p:nvSpPr>
          <p:cNvPr id="23" name="Step text 4"/>
          <p:cNvSpPr txBox="1"/>
          <p:nvPr/>
        </p:nvSpPr>
        <p:spPr>
          <a:xfrm>
            <a:off x="7569403" y="3429000"/>
            <a:ext cx="1578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5-fold cross-validation, then a held-out 20% test set.</a:t>
            </a:r>
            <a:endParaRPr lang="en-US" sz="1400" dirty="0"/>
          </a:p>
        </p:txBody>
      </p:sp>
      <p:sp>
        <p:nvSpPr>
          <p:cNvPr id="24" name="Step card 5"/>
          <p:cNvSpPr/>
          <p:nvPr/>
        </p:nvSpPr>
        <p:spPr>
          <a:xfrm>
            <a:off x="9604858" y="155448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badge 5"/>
          <p:cNvSpPr/>
          <p:nvPr/>
        </p:nvSpPr>
        <p:spPr>
          <a:xfrm>
            <a:off x="9833458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tep badge 5 number"/>
          <p:cNvSpPr txBox="1"/>
          <p:nvPr/>
        </p:nvSpPr>
        <p:spPr>
          <a:xfrm>
            <a:off x="983345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tep title 5"/>
          <p:cNvSpPr txBox="1"/>
          <p:nvPr/>
        </p:nvSpPr>
        <p:spPr>
          <a:xfrm>
            <a:off x="9833458" y="256032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Explain &amp; quantify</a:t>
            </a:r>
            <a:endParaRPr lang="en-US" sz="2000" dirty="0"/>
          </a:p>
        </p:txBody>
      </p:sp>
      <p:sp>
        <p:nvSpPr>
          <p:cNvPr id="28" name="Step text 5"/>
          <p:cNvSpPr txBox="1"/>
          <p:nvPr/>
        </p:nvSpPr>
        <p:spPr>
          <a:xfrm>
            <a:off x="9833458" y="3429000"/>
            <a:ext cx="1578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Importance, SHAP, anomalies and 90% intervals.</a:t>
            </a:r>
            <a:endParaRPr lang="en-US" sz="1400" dirty="0"/>
          </a:p>
        </p:txBody>
      </p:sp>
      <p:sp>
        <p:nvSpPr>
          <p:cNvPr id="29" name="Target caption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Target variable: JV_default_PCE, the power conversion efficiency in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Dataset: 20,000 perovskite cells</a:t>
            </a:r>
            <a:endParaRPr lang="en-US" sz="3400" dirty="0"/>
          </a:p>
        </p:txBody>
      </p:sp>
      <p:sp>
        <p:nvSpPr>
          <p:cNvPr id="4" name="Card records in the raw data, with 0 duplicate rows"/>
          <p:cNvSpPr/>
          <p:nvPr/>
        </p:nvSpPr>
        <p:spPr>
          <a:xfrm>
            <a:off x="548640" y="1554480"/>
            <a:ext cx="3108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Value records in the raw data, with 0 duplicate rows"/>
          <p:cNvSpPr txBox="1"/>
          <p:nvPr/>
        </p:nvSpPr>
        <p:spPr>
          <a:xfrm>
            <a:off x="77724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20,000</a:t>
            </a:r>
            <a:endParaRPr lang="en-US" sz="4000" dirty="0"/>
          </a:p>
        </p:txBody>
      </p:sp>
      <p:sp>
        <p:nvSpPr>
          <p:cNvPr id="6" name="Label records in the raw data, with 0 duplicate rows"/>
          <p:cNvSpPr txBox="1"/>
          <p:nvPr/>
        </p:nvSpPr>
        <p:spPr>
          <a:xfrm>
            <a:off x="77724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in the raw data, with 0 duplicate rows</a:t>
            </a:r>
            <a:endParaRPr lang="en-US" sz="1400" dirty="0"/>
          </a:p>
        </p:txBody>
      </p:sp>
      <p:sp>
        <p:nvSpPr>
          <p:cNvPr id="7" name="Card columns: 25 inputs and 5 performance outputs"/>
          <p:cNvSpPr/>
          <p:nvPr/>
        </p:nvSpPr>
        <p:spPr>
          <a:xfrm>
            <a:off x="3886200" y="1554480"/>
            <a:ext cx="3108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Value columns: 25 inputs and 5 performance outputs"/>
          <p:cNvSpPr txBox="1"/>
          <p:nvPr/>
        </p:nvSpPr>
        <p:spPr>
          <a:xfrm>
            <a:off x="411480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</a:t>
            </a:r>
            <a:endParaRPr lang="en-US" sz="4000" dirty="0"/>
          </a:p>
        </p:txBody>
      </p:sp>
      <p:sp>
        <p:nvSpPr>
          <p:cNvPr id="9" name="Label columns: 25 inputs and 5 performance outputs"/>
          <p:cNvSpPr txBox="1"/>
          <p:nvPr/>
        </p:nvSpPr>
        <p:spPr>
          <a:xfrm>
            <a:off x="411480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columns: 25 inputs and 5 performance outputs</a:t>
            </a:r>
            <a:endParaRPr lang="en-US" sz="1400" dirty="0"/>
          </a:p>
        </p:txBody>
      </p:sp>
      <p:sp>
        <p:nvSpPr>
          <p:cNvPr id="10" name="Card rows kept after cleaning the target"/>
          <p:cNvSpPr/>
          <p:nvPr/>
        </p:nvSpPr>
        <p:spPr>
          <a:xfrm>
            <a:off x="548640" y="3794760"/>
            <a:ext cx="3108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Value rows kept after cleaning the target"/>
          <p:cNvSpPr txBox="1"/>
          <p:nvPr/>
        </p:nvSpPr>
        <p:spPr>
          <a:xfrm>
            <a:off x="777240" y="3931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19,588</a:t>
            </a:r>
            <a:endParaRPr lang="en-US" sz="4000" dirty="0"/>
          </a:p>
        </p:txBody>
      </p:sp>
      <p:sp>
        <p:nvSpPr>
          <p:cNvPr id="12" name="Label rows kept after cleaning the target"/>
          <p:cNvSpPr txBox="1"/>
          <p:nvPr/>
        </p:nvSpPr>
        <p:spPr>
          <a:xfrm>
            <a:off x="777240" y="5029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rows kept after cleaning the target</a:t>
            </a:r>
            <a:endParaRPr lang="en-US" sz="1400" dirty="0"/>
          </a:p>
        </p:txBody>
      </p:sp>
      <p:sp>
        <p:nvSpPr>
          <p:cNvPr id="13" name="Card model features after adding 8 count features"/>
          <p:cNvSpPr/>
          <p:nvPr/>
        </p:nvSpPr>
        <p:spPr>
          <a:xfrm>
            <a:off x="3886200" y="3794760"/>
            <a:ext cx="3108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alue model features after adding 8 count features"/>
          <p:cNvSpPr txBox="1"/>
          <p:nvPr/>
        </p:nvSpPr>
        <p:spPr>
          <a:xfrm>
            <a:off x="4114800" y="3931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33</a:t>
            </a:r>
            <a:endParaRPr lang="en-US" sz="4000" dirty="0"/>
          </a:p>
        </p:txBody>
      </p:sp>
      <p:sp>
        <p:nvSpPr>
          <p:cNvPr id="15" name="Label model features after adding 8 count features"/>
          <p:cNvSpPr txBox="1"/>
          <p:nvPr/>
        </p:nvSpPr>
        <p:spPr>
          <a:xfrm>
            <a:off x="4114800" y="5029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features after adding 8 count features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06640" y="1463040"/>
          <a:ext cx="423367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30 columns across the device stack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754880"/>
                <a:gridCol w="36850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varies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Cell structure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Cell_stack_sequence, Cell_architecture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13 stack sequences; nip or pin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Substrate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Substrate_stack_sequence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4 variants (e.g. SLG | FTO, SLG | ITO)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Electron transport layer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ETL_stack_sequence, ETL_deposition_procedure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7 stacks, 6 deposition methods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Perovskite composition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A, B and C ions; short form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6 A-site, 3 B-site, 2 C-site, 10 formulas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Perovskite additives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Additive compounds, concentrations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8 compounds, 6 concentration levels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Perovskite deposition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Procedure, solvents, quenching, annealing, steps, thickness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6 procedures, 6 solvent systems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Hole transport layer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HTL_stack_sequence, HTL_deposition_procedure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7 stacks, 3 methods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Back contact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Stack, thickness, deposition procedure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5 stacks, 2 methods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Encapsulation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Encapsulation, Encapsulation_stack_sequence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 flags, 6 stacks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Outputs (not used as inputs)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JV_default_Voc, Jsc, FF, PCE; JV_measured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PCE is the prediction target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the data is missing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of perovskite thickness values are missing (8,028 rows)"/>
          <p:cNvSpPr/>
          <p:nvPr/>
        </p:nvSpPr>
        <p:spPr>
          <a:xfrm>
            <a:off x="7955280" y="1554480"/>
            <a:ext cx="368503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ue of perovskite thickness values are missing (8,028 rows)"/>
          <p:cNvSpPr txBox="1"/>
          <p:nvPr/>
        </p:nvSpPr>
        <p:spPr>
          <a:xfrm>
            <a:off x="8183880" y="169164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40.1%</a:t>
            </a:r>
            <a:endParaRPr lang="en-US" sz="4000" dirty="0"/>
          </a:p>
        </p:txBody>
      </p:sp>
      <p:sp>
        <p:nvSpPr>
          <p:cNvPr id="7" name="Label of perovskite thickness values are missing (8,028 rows)"/>
          <p:cNvSpPr txBox="1"/>
          <p:nvPr/>
        </p:nvSpPr>
        <p:spPr>
          <a:xfrm>
            <a:off x="8183880" y="283464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perovskite thickness values are missing (8,028 rows)</a:t>
            </a:r>
            <a:endParaRPr lang="en-US" sz="1400" dirty="0"/>
          </a:p>
        </p:txBody>
      </p:sp>
      <p:sp>
        <p:nvSpPr>
          <p:cNvPr id="8" name="Card rows without a PCE value were removed (2.1%)"/>
          <p:cNvSpPr/>
          <p:nvPr/>
        </p:nvSpPr>
        <p:spPr>
          <a:xfrm>
            <a:off x="7955280" y="3886200"/>
            <a:ext cx="368503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alue rows without a PCE value were removed (2.1%)"/>
          <p:cNvSpPr txBox="1"/>
          <p:nvPr/>
        </p:nvSpPr>
        <p:spPr>
          <a:xfrm>
            <a:off x="8183880" y="402336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412</a:t>
            </a:r>
            <a:endParaRPr lang="en-US" sz="4000" dirty="0"/>
          </a:p>
        </p:txBody>
      </p:sp>
      <p:sp>
        <p:nvSpPr>
          <p:cNvPr id="10" name="Label rows without a PCE value were removed (2.1%)"/>
          <p:cNvSpPr txBox="1"/>
          <p:nvPr/>
        </p:nvSpPr>
        <p:spPr>
          <a:xfrm>
            <a:off x="8183880" y="516636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rows without a PCE value were removed (2.1%)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Target: power conversion efficiency</a:t>
            </a:r>
            <a:endParaRPr lang="en-US" sz="3400" dirty="0"/>
          </a:p>
        </p:txBody>
      </p:sp>
      <p:pic>
        <p:nvPicPr>
          <p:cNvPr id="4" name="PCE histogram" descr="Histogram of JV_default_PCE with a density curve, peaking near 15% with a small low-efficiency bump below 1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4078224"/>
          </a:xfrm>
          <a:prstGeom prst="rect">
            <a:avLst/>
          </a:prstGeom>
        </p:spPr>
      </p:pic>
      <p:sp>
        <p:nvSpPr>
          <p:cNvPr id="5" name="Card mean PCE (%)"/>
          <p:cNvSpPr/>
          <p:nvPr/>
        </p:nvSpPr>
        <p:spPr>
          <a:xfrm>
            <a:off x="6949440" y="1554480"/>
            <a:ext cx="21945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ue mean PCE (%)"/>
          <p:cNvSpPr txBox="1"/>
          <p:nvPr/>
        </p:nvSpPr>
        <p:spPr>
          <a:xfrm>
            <a:off x="71780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14.95</a:t>
            </a:r>
            <a:endParaRPr lang="en-US" sz="3600" dirty="0"/>
          </a:p>
        </p:txBody>
      </p:sp>
      <p:sp>
        <p:nvSpPr>
          <p:cNvPr id="7" name="Label mean PCE (%)"/>
          <p:cNvSpPr txBox="1"/>
          <p:nvPr/>
        </p:nvSpPr>
        <p:spPr>
          <a:xfrm>
            <a:off x="7178040" y="2697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PCE (%)</a:t>
            </a:r>
            <a:endParaRPr lang="en-US" sz="1400" dirty="0"/>
          </a:p>
        </p:txBody>
      </p:sp>
      <p:sp>
        <p:nvSpPr>
          <p:cNvPr id="8" name="Card median PCE (%)"/>
          <p:cNvSpPr/>
          <p:nvPr/>
        </p:nvSpPr>
        <p:spPr>
          <a:xfrm>
            <a:off x="9445752" y="1554480"/>
            <a:ext cx="21945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alue median PCE (%)"/>
          <p:cNvSpPr txBox="1"/>
          <p:nvPr/>
        </p:nvSpPr>
        <p:spPr>
          <a:xfrm>
            <a:off x="9674352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15.12</a:t>
            </a:r>
            <a:endParaRPr lang="en-US" sz="3600" dirty="0"/>
          </a:p>
        </p:txBody>
      </p:sp>
      <p:sp>
        <p:nvSpPr>
          <p:cNvPr id="10" name="Label median PCE (%)"/>
          <p:cNvSpPr txBox="1"/>
          <p:nvPr/>
        </p:nvSpPr>
        <p:spPr>
          <a:xfrm>
            <a:off x="9674352" y="2697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PCE (%)</a:t>
            </a:r>
            <a:endParaRPr lang="en-US" sz="1400" dirty="0"/>
          </a:p>
        </p:txBody>
      </p:sp>
      <p:sp>
        <p:nvSpPr>
          <p:cNvPr id="11" name="Card standard deviation"/>
          <p:cNvSpPr/>
          <p:nvPr/>
        </p:nvSpPr>
        <p:spPr>
          <a:xfrm>
            <a:off x="6949440" y="3611880"/>
            <a:ext cx="21945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Value standard deviation"/>
          <p:cNvSpPr txBox="1"/>
          <p:nvPr/>
        </p:nvSpPr>
        <p:spPr>
          <a:xfrm>
            <a:off x="7178040" y="3749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3.05</a:t>
            </a:r>
            <a:endParaRPr lang="en-US" sz="3600" dirty="0"/>
          </a:p>
        </p:txBody>
      </p:sp>
      <p:sp>
        <p:nvSpPr>
          <p:cNvPr id="13" name="Label standard deviation"/>
          <p:cNvSpPr txBox="1"/>
          <p:nvPr/>
        </p:nvSpPr>
        <p:spPr>
          <a:xfrm>
            <a:off x="7178040" y="4846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deviation</a:t>
            </a:r>
            <a:endParaRPr lang="en-US" sz="1400" dirty="0"/>
          </a:p>
        </p:txBody>
      </p:sp>
      <p:sp>
        <p:nvSpPr>
          <p:cNvPr id="14" name="Card observed range (%)"/>
          <p:cNvSpPr/>
          <p:nvPr/>
        </p:nvSpPr>
        <p:spPr>
          <a:xfrm>
            <a:off x="9445752" y="3611880"/>
            <a:ext cx="21945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Value observed range (%)"/>
          <p:cNvSpPr txBox="1"/>
          <p:nvPr/>
        </p:nvSpPr>
        <p:spPr>
          <a:xfrm>
            <a:off x="9674352" y="3749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0.86–25.54</a:t>
            </a:r>
            <a:endParaRPr lang="en-US" sz="2600" dirty="0"/>
          </a:p>
        </p:txBody>
      </p:sp>
      <p:sp>
        <p:nvSpPr>
          <p:cNvPr id="16" name="Label observed range (%)"/>
          <p:cNvSpPr txBox="1"/>
          <p:nvPr/>
        </p:nvSpPr>
        <p:spPr>
          <a:xfrm>
            <a:off x="9674352" y="4846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observed range (%)</a:t>
            </a:r>
            <a:endParaRPr lang="en-US" sz="1400" dirty="0"/>
          </a:p>
        </p:txBody>
      </p:sp>
      <p:sp>
        <p:nvSpPr>
          <p:cNvPr id="17" name="Histogram caption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small low-efficiency cluster (below about 10%) sits apart from the main peak near 15%.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Photovoltaic metrics summary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203704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75%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Voc (V)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19,406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1.052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0.115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0.350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1.016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1.067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1.116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1.250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Jsc (mA/cm²)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19,389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20.01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2.42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2.33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19.08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20.30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21.42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26.00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FF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19,393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0.703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0.048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0.670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0.700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0.740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0.860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PCE (%)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19,588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14.95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3.05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0.86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13.49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15.12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16.80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25.54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Insight PCE"/>
          <p:cNvSpPr/>
          <p:nvPr/>
        </p:nvSpPr>
        <p:spPr>
          <a:xfrm>
            <a:off x="548640" y="4297680"/>
            <a:ext cx="354482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sight PCE text"/>
          <p:cNvSpPr txBox="1"/>
          <p:nvPr/>
        </p:nvSpPr>
        <p:spPr>
          <a:xfrm>
            <a:off x="777240" y="443484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PCE is centred near 15%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 14.95%, median 15.12%, middle half between 13.49% and 16.80%.</a:t>
            </a:r>
            <a:endParaRPr lang="en-US" sz="1800" dirty="0"/>
          </a:p>
        </p:txBody>
      </p:sp>
      <p:sp>
        <p:nvSpPr>
          <p:cNvPr id="7" name="Insight range"/>
          <p:cNvSpPr/>
          <p:nvPr/>
        </p:nvSpPr>
        <p:spPr>
          <a:xfrm>
            <a:off x="4322064" y="4297680"/>
            <a:ext cx="354482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sight range text"/>
          <p:cNvSpPr txBox="1"/>
          <p:nvPr/>
        </p:nvSpPr>
        <p:spPr>
          <a:xfrm>
            <a:off x="4550664" y="443484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Wide device-to-device range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Voc runs 0.35–1.25 V and Jsc 2.33–26.00 mA/cm².</a:t>
            </a:r>
            <a:endParaRPr lang="en-US" sz="1800" dirty="0"/>
          </a:p>
        </p:txBody>
      </p:sp>
      <p:sp>
        <p:nvSpPr>
          <p:cNvPr id="9" name="Insight FF"/>
          <p:cNvSpPr/>
          <p:nvPr/>
        </p:nvSpPr>
        <p:spPr>
          <a:xfrm>
            <a:off x="8095488" y="4297680"/>
            <a:ext cx="354482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nsight FF text"/>
          <p:cNvSpPr txBox="1"/>
          <p:nvPr/>
        </p:nvSpPr>
        <p:spPr>
          <a:xfrm>
            <a:off x="8324088" y="443484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Fill factor is tight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FF has a standard deviation of only 0.048 around a mean of 0.70.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Preparing the data for modelling</a:t>
            </a:r>
            <a:endParaRPr lang="en-US" sz="3400" dirty="0"/>
          </a:p>
        </p:txBody>
      </p:sp>
      <p:sp>
        <p:nvSpPr>
          <p:cNvPr id="4" name="Prep card 1"/>
          <p:cNvSpPr/>
          <p:nvPr/>
        </p:nvSpPr>
        <p:spPr>
          <a:xfrm>
            <a:off x="548640" y="155448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ep badge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ep badge 1 number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rep text 1"/>
          <p:cNvSpPr txBox="1"/>
          <p:nvPr/>
        </p:nvSpPr>
        <p:spPr>
          <a:xfrm>
            <a:off x="155448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 the target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Non-numeric PCE becomes missing; 412 rows dropped; PCE kept within 0–100%.</a:t>
            </a:r>
            <a:endParaRPr lang="en-US" sz="1800" dirty="0"/>
          </a:p>
        </p:txBody>
      </p:sp>
      <p:sp>
        <p:nvSpPr>
          <p:cNvPr id="8" name="Prep card 2"/>
          <p:cNvSpPr/>
          <p:nvPr/>
        </p:nvSpPr>
        <p:spPr>
          <a:xfrm>
            <a:off x="548640" y="274320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ep badge 2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ep badge 2 number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rep text 2"/>
          <p:cNvSpPr txBox="1"/>
          <p:nvPr/>
        </p:nvSpPr>
        <p:spPr>
          <a:xfrm>
            <a:off x="155448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Block leakage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PCE, Voc, Jsc, FF and JV_measured are excluded from the inputs.</a:t>
            </a:r>
            <a:endParaRPr lang="en-US" sz="1800" dirty="0"/>
          </a:p>
        </p:txBody>
      </p:sp>
      <p:sp>
        <p:nvSpPr>
          <p:cNvPr id="12" name="Prep card 3"/>
          <p:cNvSpPr/>
          <p:nvPr/>
        </p:nvSpPr>
        <p:spPr>
          <a:xfrm>
            <a:off x="548640" y="393192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rep badge 3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rep badge 3 number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Prep text 3"/>
          <p:cNvSpPr txBox="1"/>
          <p:nvPr/>
        </p:nvSpPr>
        <p:spPr>
          <a:xfrm>
            <a:off x="1554480" y="4023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 features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 and additive counts parsed from stack and additive strings (+8).</a:t>
            </a:r>
            <a:endParaRPr lang="en-US" sz="1800" dirty="0"/>
          </a:p>
        </p:txBody>
      </p:sp>
      <p:sp>
        <p:nvSpPr>
          <p:cNvPr id="16" name="Prep card 4"/>
          <p:cNvSpPr/>
          <p:nvPr/>
        </p:nvSpPr>
        <p:spPr>
          <a:xfrm>
            <a:off x="548640" y="512064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ep badge 4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rep badge 4 number"/>
          <p:cNvSpPr txBox="1"/>
          <p:nvPr/>
        </p:nvSpPr>
        <p:spPr>
          <a:xfrm>
            <a:off x="7772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rep text 4"/>
          <p:cNvSpPr txBox="1"/>
          <p:nvPr/>
        </p:nvSpPr>
        <p:spPr>
          <a:xfrm>
            <a:off x="155448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Build the pipeline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Numeric: median impute and scale. Categorical: most-frequent impute and one-hot.</a:t>
            </a:r>
            <a:endParaRPr lang="en-US" sz="1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589520" y="1463040"/>
          <a:ext cx="405079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models, one shared pipeline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566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Settings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Ridge Regression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Linear baseline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alpha = 1.0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Bagged decision trees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150 trees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Boosted shallow trees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100 trees, learning rate 0.05, depth 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Voting Regressor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Average of three models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Ridge + Random Forest + Gradient Boosting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Stacking Regressor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Learned blend of three models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Same base models; Ridge meta-learner; 3-fold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etup card 1"/>
          <p:cNvSpPr/>
          <p:nvPr/>
        </p:nvSpPr>
        <p:spPr>
          <a:xfrm>
            <a:off x="548640" y="5029200"/>
            <a:ext cx="354482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etup text 1"/>
          <p:cNvSpPr txBox="1"/>
          <p:nvPr/>
        </p:nvSpPr>
        <p:spPr>
          <a:xfrm>
            <a:off x="777240" y="5029200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80/20 train–test split (seed 42)</a:t>
            </a:r>
            <a:endParaRPr lang="en-US" sz="1600" dirty="0"/>
          </a:p>
        </p:txBody>
      </p:sp>
      <p:sp>
        <p:nvSpPr>
          <p:cNvPr id="7" name="Setup card 2"/>
          <p:cNvSpPr/>
          <p:nvPr/>
        </p:nvSpPr>
        <p:spPr>
          <a:xfrm>
            <a:off x="4322064" y="5029200"/>
            <a:ext cx="354482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etup text 2"/>
          <p:cNvSpPr txBox="1"/>
          <p:nvPr/>
        </p:nvSpPr>
        <p:spPr>
          <a:xfrm>
            <a:off x="4550664" y="5029200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5-fold CV on the training set</a:t>
            </a:r>
            <a:endParaRPr lang="en-US" sz="1600" dirty="0"/>
          </a:p>
        </p:txBody>
      </p:sp>
      <p:sp>
        <p:nvSpPr>
          <p:cNvPr id="9" name="Setup card 3"/>
          <p:cNvSpPr/>
          <p:nvPr/>
        </p:nvSpPr>
        <p:spPr>
          <a:xfrm>
            <a:off x="8095488" y="5029200"/>
            <a:ext cx="354482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etup text 3"/>
          <p:cNvSpPr txBox="1"/>
          <p:nvPr/>
        </p:nvSpPr>
        <p:spPr>
          <a:xfrm>
            <a:off x="8324088" y="5029200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preprocessing for every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Ridge baseline sets the bar</a:t>
            </a:r>
            <a:endParaRPr lang="en-US" sz="3400" dirty="0"/>
          </a:p>
        </p:txBody>
      </p:sp>
      <p:sp>
        <p:nvSpPr>
          <p:cNvPr id="4" name="Card test R²"/>
          <p:cNvSpPr/>
          <p:nvPr/>
        </p:nvSpPr>
        <p:spPr>
          <a:xfrm>
            <a:off x="548640" y="155448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Value test R²"/>
          <p:cNvSpPr txBox="1"/>
          <p:nvPr/>
        </p:nvSpPr>
        <p:spPr>
          <a:xfrm>
            <a:off x="77724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0.538</a:t>
            </a:r>
            <a:endParaRPr lang="en-US" sz="4000" dirty="0"/>
          </a:p>
        </p:txBody>
      </p:sp>
      <p:sp>
        <p:nvSpPr>
          <p:cNvPr id="6" name="Label test R²"/>
          <p:cNvSpPr txBox="1"/>
          <p:nvPr/>
        </p:nvSpPr>
        <p:spPr>
          <a:xfrm>
            <a:off x="777240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R²</a:t>
            </a:r>
            <a:endParaRPr lang="en-US" sz="1400" dirty="0"/>
          </a:p>
        </p:txBody>
      </p:sp>
      <p:sp>
        <p:nvSpPr>
          <p:cNvPr id="7" name="Card test MAE, in PCE points"/>
          <p:cNvSpPr/>
          <p:nvPr/>
        </p:nvSpPr>
        <p:spPr>
          <a:xfrm>
            <a:off x="3520440" y="155448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Value test MAE, in PCE points"/>
          <p:cNvSpPr txBox="1"/>
          <p:nvPr/>
        </p:nvSpPr>
        <p:spPr>
          <a:xfrm>
            <a:off x="374904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1.585</a:t>
            </a:r>
            <a:endParaRPr lang="en-US" sz="4000" dirty="0"/>
          </a:p>
        </p:txBody>
      </p:sp>
      <p:sp>
        <p:nvSpPr>
          <p:cNvPr id="9" name="Label test MAE, in PCE points"/>
          <p:cNvSpPr txBox="1"/>
          <p:nvPr/>
        </p:nvSpPr>
        <p:spPr>
          <a:xfrm>
            <a:off x="3749040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MAE, in PCE points</a:t>
            </a:r>
            <a:endParaRPr lang="en-US" sz="1400" dirty="0"/>
          </a:p>
        </p:txBody>
      </p:sp>
      <p:sp>
        <p:nvSpPr>
          <p:cNvPr id="10" name="Card test RMSE, in PCE points"/>
          <p:cNvSpPr/>
          <p:nvPr/>
        </p:nvSpPr>
        <p:spPr>
          <a:xfrm>
            <a:off x="548640" y="379476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Value test RMSE, in PCE points"/>
          <p:cNvSpPr txBox="1"/>
          <p:nvPr/>
        </p:nvSpPr>
        <p:spPr>
          <a:xfrm>
            <a:off x="777240" y="3931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2.001</a:t>
            </a:r>
            <a:endParaRPr lang="en-US" sz="4000" dirty="0"/>
          </a:p>
        </p:txBody>
      </p:sp>
      <p:sp>
        <p:nvSpPr>
          <p:cNvPr id="12" name="Label test RMSE, in PCE points"/>
          <p:cNvSpPr txBox="1"/>
          <p:nvPr/>
        </p:nvSpPr>
        <p:spPr>
          <a:xfrm>
            <a:off x="77724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RMSE, in PCE points</a:t>
            </a:r>
            <a:endParaRPr lang="en-US" sz="1400" dirty="0"/>
          </a:p>
        </p:txBody>
      </p:sp>
      <p:sp>
        <p:nvSpPr>
          <p:cNvPr id="13" name="Card 5-fold CV R² (mean ± std)"/>
          <p:cNvSpPr/>
          <p:nvPr/>
        </p:nvSpPr>
        <p:spPr>
          <a:xfrm>
            <a:off x="3520440" y="379476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alue 5-fold CV R² (mean ± std)"/>
          <p:cNvSpPr txBox="1"/>
          <p:nvPr/>
        </p:nvSpPr>
        <p:spPr>
          <a:xfrm>
            <a:off x="3749040" y="3931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0.592 ± 0.020</a:t>
            </a:r>
            <a:endParaRPr lang="en-US" sz="2600" dirty="0"/>
          </a:p>
        </p:txBody>
      </p:sp>
      <p:sp>
        <p:nvSpPr>
          <p:cNvPr id="15" name="Label 5-fold CV R² (mean ± std)"/>
          <p:cNvSpPr txBox="1"/>
          <p:nvPr/>
        </p:nvSpPr>
        <p:spPr>
          <a:xfrm>
            <a:off x="374904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5-fold CV R² (mean ± std)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583680" y="1463040"/>
          <a:ext cx="5056632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Ridge caption"/>
          <p:cNvSpPr txBox="1"/>
          <p:nvPr/>
        </p:nvSpPr>
        <p:spPr>
          <a:xfrm>
            <a:off x="6583680" y="580644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test R² sits about 0.054 below the cross-validation mean.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5-fold cross-validation results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R²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Std R²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Stacking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0.5937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0.0200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1.5556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1.9595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Ridge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0.5921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0.0204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1.5594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1.9633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Voting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0.5878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0.0215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1.5672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1.9736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0.5730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0.0193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1.5958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2.0090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0.5332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0.0269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1.6674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2.0999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V takeaway card"/>
          <p:cNvSpPr/>
          <p:nvPr/>
        </p:nvSpPr>
        <p:spPr>
          <a:xfrm>
            <a:off x="548640" y="4846320"/>
            <a:ext cx="6126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V takeaway text"/>
          <p:cNvSpPr txBox="1"/>
          <p:nvPr/>
        </p:nvSpPr>
        <p:spPr>
          <a:xfrm>
            <a:off x="777240" y="4846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Stacking ranks first on RMSE, but Ridge is within 0.004.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949440" y="1463040"/>
          <a:ext cx="469087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Held-out test: R² by model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Stacking R² over Ridge (0.5380 vs 0.5379)"/>
          <p:cNvSpPr/>
          <p:nvPr/>
        </p:nvSpPr>
        <p:spPr>
          <a:xfrm>
            <a:off x="8138160" y="1554480"/>
            <a:ext cx="350215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ue Stacking R² over Ridge (0.5380 vs 0.5379)"/>
          <p:cNvSpPr txBox="1"/>
          <p:nvPr/>
        </p:nvSpPr>
        <p:spPr>
          <a:xfrm>
            <a:off x="8366760" y="1691640"/>
            <a:ext cx="3044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+0.0001</a:t>
            </a:r>
            <a:endParaRPr lang="en-US" sz="4000" dirty="0"/>
          </a:p>
        </p:txBody>
      </p:sp>
      <p:sp>
        <p:nvSpPr>
          <p:cNvPr id="7" name="Label Stacking R² over Ridge (0.5380 vs 0.5379)"/>
          <p:cNvSpPr txBox="1"/>
          <p:nvPr/>
        </p:nvSpPr>
        <p:spPr>
          <a:xfrm>
            <a:off x="8366760" y="2857500"/>
            <a:ext cx="30449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Stacking R² over Ridge (0.5380 vs 0.5379)</a:t>
            </a:r>
            <a:endParaRPr lang="en-US" sz="1400" dirty="0"/>
          </a:p>
        </p:txBody>
      </p:sp>
      <p:sp>
        <p:nvSpPr>
          <p:cNvPr id="8" name="Card Random Forest, the lowest test R²"/>
          <p:cNvSpPr/>
          <p:nvPr/>
        </p:nvSpPr>
        <p:spPr>
          <a:xfrm>
            <a:off x="8138160" y="3931920"/>
            <a:ext cx="350215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alue Random Forest, the lowest test R²"/>
          <p:cNvSpPr txBox="1"/>
          <p:nvPr/>
        </p:nvSpPr>
        <p:spPr>
          <a:xfrm>
            <a:off x="8366760" y="4069080"/>
            <a:ext cx="3044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0.452</a:t>
            </a:r>
            <a:endParaRPr lang="en-US" sz="4000" dirty="0"/>
          </a:p>
        </p:txBody>
      </p:sp>
      <p:sp>
        <p:nvSpPr>
          <p:cNvPr id="10" name="Label Random Forest, the lowest test R²"/>
          <p:cNvSpPr txBox="1"/>
          <p:nvPr/>
        </p:nvSpPr>
        <p:spPr>
          <a:xfrm>
            <a:off x="8366760" y="5234940"/>
            <a:ext cx="304495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Forest, the lowest test R²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Held-out test: errors and bias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as table heading"/>
          <p:cNvSpPr txBox="1"/>
          <p:nvPr/>
        </p:nvSpPr>
        <p:spPr>
          <a:xfrm>
            <a:off x="7498080" y="15544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Predicted mean vs actual mean (15.0105%)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057400"/>
          <a:ext cx="414223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11704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Diff (pp)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Ridge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15.0016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−0.0089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15.0228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+0.0124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15.0029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−0.0076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Voting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15.0099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−0.0006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Stacking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15.0032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−0.0073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ias caption"/>
          <p:cNvSpPr txBox="1"/>
          <p:nvPr/>
        </p:nvSpPr>
        <p:spPr>
          <a:xfrm>
            <a:off x="7498080" y="502920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 model is unbiased on average: the largest gap is 0.0124 percentage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Top drivers of predicted PCE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B-site importance vs the next feature (5.29 vs 0.69)"/>
          <p:cNvSpPr/>
          <p:nvPr/>
        </p:nvSpPr>
        <p:spPr>
          <a:xfrm>
            <a:off x="7955280" y="1554480"/>
            <a:ext cx="368503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ue B-site importance vs the next feature (5.29 vs 0.69)"/>
          <p:cNvSpPr txBox="1"/>
          <p:nvPr/>
        </p:nvSpPr>
        <p:spPr>
          <a:xfrm>
            <a:off x="8183880" y="1691640"/>
            <a:ext cx="3227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7.6×</a:t>
            </a:r>
            <a:endParaRPr lang="en-US" sz="4000" dirty="0"/>
          </a:p>
        </p:txBody>
      </p:sp>
      <p:sp>
        <p:nvSpPr>
          <p:cNvPr id="7" name="Label B-site importance vs the next feature (5.29 vs 0.69)"/>
          <p:cNvSpPr txBox="1"/>
          <p:nvPr/>
        </p:nvSpPr>
        <p:spPr>
          <a:xfrm>
            <a:off x="8183880" y="28803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B-site importance vs the next feature (5.29 vs 0.69)</a:t>
            </a:r>
            <a:endParaRPr lang="en-US" sz="1400" dirty="0"/>
          </a:p>
        </p:txBody>
      </p:sp>
      <p:sp>
        <p:nvSpPr>
          <p:cNvPr id="8" name="Pb caveat"/>
          <p:cNvSpPr/>
          <p:nvPr/>
        </p:nvSpPr>
        <p:spPr>
          <a:xfrm>
            <a:off x="7955280" y="3977640"/>
            <a:ext cx="368503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b caveat text"/>
          <p:cNvSpPr txBox="1"/>
          <p:nvPr/>
        </p:nvSpPr>
        <p:spPr>
          <a:xfrm>
            <a:off x="8183880" y="4114800"/>
            <a:ext cx="3227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Worth checking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844 of 20,000 cells lack Pb, so this may reflect a small, distinct group.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SHAP: direction of each effect</a:t>
            </a:r>
            <a:endParaRPr lang="en-US" sz="3400" dirty="0"/>
          </a:p>
        </p:txBody>
      </p:sp>
      <p:pic>
        <p:nvPicPr>
          <p:cNvPr id="4" name="SHAP beeswarm" descr="SHAP beeswarm plot for the top ten features of the stacking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2980944"/>
          </a:xfrm>
          <a:prstGeom prst="rect">
            <a:avLst/>
          </a:prstGeom>
        </p:spPr>
      </p:pic>
      <p:sp>
        <p:nvSpPr>
          <p:cNvPr id="5" name="SHAP caveat card"/>
          <p:cNvSpPr/>
          <p:nvPr/>
        </p:nvSpPr>
        <p:spPr>
          <a:xfrm>
            <a:off x="548640" y="4754880"/>
            <a:ext cx="7498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 caveat text"/>
          <p:cNvSpPr txBox="1"/>
          <p:nvPr/>
        </p:nvSpPr>
        <p:spPr>
          <a:xfrm>
            <a:off x="777240" y="475488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Computed on 20 test samples against a 100-sample background, so read the pattern rather than the exact values.</a:t>
            </a:r>
            <a:endParaRPr lang="en-US" sz="1600" dirty="0"/>
          </a:p>
        </p:txBody>
      </p:sp>
      <p:sp>
        <p:nvSpPr>
          <p:cNvPr id="7" name="SHAP note 1"/>
          <p:cNvSpPr/>
          <p:nvPr/>
        </p:nvSpPr>
        <p:spPr>
          <a:xfrm>
            <a:off x="8321040" y="155448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 note 1 text"/>
          <p:cNvSpPr txBox="1"/>
          <p:nvPr/>
        </p:nvSpPr>
        <p:spPr>
          <a:xfrm>
            <a:off x="8549640" y="169164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Quenching helps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Quenching-induced crystallisation pushes predictions up by about +0.65.</a:t>
            </a:r>
            <a:endParaRPr lang="en-US" sz="1800" dirty="0"/>
          </a:p>
        </p:txBody>
      </p:sp>
      <p:sp>
        <p:nvSpPr>
          <p:cNvPr id="9" name="SHAP note 2"/>
          <p:cNvSpPr/>
          <p:nvPr/>
        </p:nvSpPr>
        <p:spPr>
          <a:xfrm>
            <a:off x="8321040" y="306324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 note 2 text"/>
          <p:cNvSpPr txBox="1"/>
          <p:nvPr/>
        </p:nvSpPr>
        <p:spPr>
          <a:xfrm>
            <a:off x="8549640" y="320040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Composition cuts both ways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MAPbI is about +0.45; MA as an A-site ion is about −0.4.</a:t>
            </a:r>
            <a:endParaRPr lang="en-US" sz="1800" dirty="0"/>
          </a:p>
        </p:txBody>
      </p:sp>
      <p:sp>
        <p:nvSpPr>
          <p:cNvPr id="11" name="SHAP note 3"/>
          <p:cNvSpPr/>
          <p:nvPr/>
        </p:nvSpPr>
        <p:spPr>
          <a:xfrm>
            <a:off x="8321040" y="457200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 note 3 text"/>
          <p:cNvSpPr txBox="1"/>
          <p:nvPr/>
        </p:nvSpPr>
        <p:spPr>
          <a:xfrm>
            <a:off x="8549640" y="470916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Spin-coated ETL pulls down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few samples shown sit near −0.9.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Anomaly detection: three methods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37160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Anomalies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Isolation Forest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51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2.55%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Local Outlier Factor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0.00%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One-Class SVM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103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5.15%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nomaly insight"/>
          <p:cNvSpPr/>
          <p:nvPr/>
        </p:nvSpPr>
        <p:spPr>
          <a:xfrm>
            <a:off x="548640" y="4114800"/>
            <a:ext cx="59436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nomaly insight text"/>
          <p:cNvSpPr txBox="1"/>
          <p:nvPr/>
        </p:nvSpPr>
        <p:spPr>
          <a:xfrm>
            <a:off x="777240" y="4251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The methods disagree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Isolation Forest flags 2.55%, LOF flags none, and One-Class SVM flags 5.15% (its nu = 0.05 setting targets about 5%).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1463040"/>
          <a:ext cx="478231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Prediction intervals: 90% target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observed coverage, 1.4 points under the 90% target"/>
          <p:cNvSpPr/>
          <p:nvPr/>
        </p:nvSpPr>
        <p:spPr>
          <a:xfrm>
            <a:off x="6675120" y="1554480"/>
            <a:ext cx="4965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ue observed coverage, 1.4 points under the 90% target"/>
          <p:cNvSpPr txBox="1"/>
          <p:nvPr/>
        </p:nvSpPr>
        <p:spPr>
          <a:xfrm>
            <a:off x="6903720" y="169164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88.62%</a:t>
            </a:r>
            <a:endParaRPr lang="en-US" sz="4000" dirty="0"/>
          </a:p>
        </p:txBody>
      </p:sp>
      <p:sp>
        <p:nvSpPr>
          <p:cNvPr id="7" name="Label observed coverage, 1.4 points under the 90% target"/>
          <p:cNvSpPr txBox="1"/>
          <p:nvPr/>
        </p:nvSpPr>
        <p:spPr>
          <a:xfrm>
            <a:off x="6903720" y="27889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observed coverage, 1.4 points under the 90% target</a:t>
            </a:r>
            <a:endParaRPr lang="en-US" sz="1400" dirty="0"/>
          </a:p>
        </p:txBody>
      </p:sp>
      <p:sp>
        <p:nvSpPr>
          <p:cNvPr id="8" name="Card mean interval width, in PCE points"/>
          <p:cNvSpPr/>
          <p:nvPr/>
        </p:nvSpPr>
        <p:spPr>
          <a:xfrm>
            <a:off x="6675120" y="3794760"/>
            <a:ext cx="4965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alue mean interval width, in PCE points"/>
          <p:cNvSpPr txBox="1"/>
          <p:nvPr/>
        </p:nvSpPr>
        <p:spPr>
          <a:xfrm>
            <a:off x="6903720" y="393192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6.42</a:t>
            </a:r>
            <a:endParaRPr lang="en-US" sz="4000" dirty="0"/>
          </a:p>
        </p:txBody>
      </p:sp>
      <p:sp>
        <p:nvSpPr>
          <p:cNvPr id="10" name="Label mean interval width, in PCE points"/>
          <p:cNvSpPr txBox="1"/>
          <p:nvPr/>
        </p:nvSpPr>
        <p:spPr>
          <a:xfrm>
            <a:off x="6903720" y="502920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interval width, in PCE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Actual vs predicted PCE</a:t>
            </a:r>
            <a:endParaRPr lang="en-US" sz="3400" dirty="0"/>
          </a:p>
        </p:txBody>
      </p:sp>
      <p:pic>
        <p:nvPicPr>
          <p:cNvPr id="4" name="Actual vs predicted scatter" descr="Scatter of actual versus predicted PCE on the test set with a dashed identity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239512" cy="448056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54223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562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Stacking, held-out test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Test R²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0.5380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Test MAE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1.5832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Test RMSE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2.0005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Interval coverage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88.62%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</a:rPr>
                        <a:t>Mean interval width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6.42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catter insight"/>
          <p:cNvSpPr/>
          <p:nvPr/>
        </p:nvSpPr>
        <p:spPr>
          <a:xfrm>
            <a:off x="6217920" y="4572000"/>
            <a:ext cx="542239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catter insight text"/>
          <p:cNvSpPr txBox="1"/>
          <p:nvPr/>
        </p:nvSpPr>
        <p:spPr>
          <a:xfrm>
            <a:off x="6446520" y="470916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Where it works and where it doesn't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Cells below about 10% sit close to the diagonal. Predictions flatten out near 18% even when actual PCE reaches 25%.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Key findings</a:t>
            </a:r>
            <a:endParaRPr lang="en-US" sz="3400" dirty="0"/>
          </a:p>
        </p:txBody>
      </p:sp>
      <p:sp>
        <p:nvSpPr>
          <p:cNvPr id="4" name="Finding card 1"/>
          <p:cNvSpPr/>
          <p:nvPr/>
        </p:nvSpPr>
        <p:spPr>
          <a:xfrm>
            <a:off x="548640" y="155448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inding badge 1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inding badge 1 number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inding text 1"/>
          <p:cNvSpPr txBox="1"/>
          <p:nvPr/>
        </p:nvSpPr>
        <p:spPr>
          <a:xfrm>
            <a:off x="1600200" y="17830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Moderate predictive power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Best test R² is 0.538 with an MAE of about 1.58 PCE points.</a:t>
            </a:r>
            <a:endParaRPr lang="en-US" sz="2000" dirty="0"/>
          </a:p>
        </p:txBody>
      </p:sp>
      <p:sp>
        <p:nvSpPr>
          <p:cNvPr id="8" name="Finding card 2"/>
          <p:cNvSpPr/>
          <p:nvPr/>
        </p:nvSpPr>
        <p:spPr>
          <a:xfrm>
            <a:off x="6208776" y="155448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inding badge 2"/>
          <p:cNvSpPr/>
          <p:nvPr/>
        </p:nvSpPr>
        <p:spPr>
          <a:xfrm>
            <a:off x="6483096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inding badge 2 number"/>
          <p:cNvSpPr txBox="1"/>
          <p:nvPr/>
        </p:nvSpPr>
        <p:spPr>
          <a:xfrm>
            <a:off x="64830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Finding text 2"/>
          <p:cNvSpPr txBox="1"/>
          <p:nvPr/>
        </p:nvSpPr>
        <p:spPr>
          <a:xfrm>
            <a:off x="7260336" y="17830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Model choice matters little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Stacking, Ridge and Voting land within 0.013 R² of each other.</a:t>
            </a:r>
            <a:endParaRPr lang="en-US" sz="2000" dirty="0"/>
          </a:p>
        </p:txBody>
      </p:sp>
      <p:sp>
        <p:nvSpPr>
          <p:cNvPr id="12" name="Finding card 3"/>
          <p:cNvSpPr/>
          <p:nvPr/>
        </p:nvSpPr>
        <p:spPr>
          <a:xfrm>
            <a:off x="548640" y="397764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inding badge 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inding badge 3 number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Finding text 3"/>
          <p:cNvSpPr txBox="1"/>
          <p:nvPr/>
        </p:nvSpPr>
        <p:spPr>
          <a:xfrm>
            <a:off x="1600200" y="42062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Composition dominates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B-site (Pb) ions lead, followed by A-site and C-site ions and quenching.</a:t>
            </a:r>
            <a:endParaRPr lang="en-US" sz="2000" dirty="0"/>
          </a:p>
        </p:txBody>
      </p:sp>
      <p:sp>
        <p:nvSpPr>
          <p:cNvPr id="16" name="Finding card 4"/>
          <p:cNvSpPr/>
          <p:nvPr/>
        </p:nvSpPr>
        <p:spPr>
          <a:xfrm>
            <a:off x="6208776" y="397764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inding badge 4"/>
          <p:cNvSpPr/>
          <p:nvPr/>
        </p:nvSpPr>
        <p:spPr>
          <a:xfrm>
            <a:off x="6483096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Finding badge 4 number"/>
          <p:cNvSpPr txBox="1"/>
          <p:nvPr/>
        </p:nvSpPr>
        <p:spPr>
          <a:xfrm>
            <a:off x="6483096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Finding text 4"/>
          <p:cNvSpPr txBox="1"/>
          <p:nvPr/>
        </p:nvSpPr>
        <p:spPr>
          <a:xfrm>
            <a:off x="7260336" y="42062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Uncertainty is close to calibrated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88.6% of test values fall inside the interval, against a 90% target.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4" name="Column card 1"/>
          <p:cNvSpPr/>
          <p:nvPr/>
        </p:nvSpPr>
        <p:spPr>
          <a:xfrm>
            <a:off x="548640" y="1554480"/>
            <a:ext cx="5431536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olumn heading 1"/>
          <p:cNvSpPr txBox="1"/>
          <p:nvPr/>
        </p:nvSpPr>
        <p:spPr>
          <a:xfrm>
            <a:off x="868680" y="173736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Column list 1"/>
          <p:cNvSpPr txBox="1"/>
          <p:nvPr/>
        </p:nvSpPr>
        <p:spPr>
          <a:xfrm>
            <a:off x="868680" y="2423160"/>
            <a:ext cx="47914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40% of perovskite thickness values are missing.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test R² of 0.538 leaves about 46% of PCE variance unexplained.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High-efficiency cells are under-predicted.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SHAP was computed on only 20 samples.</a:t>
            </a:r>
            <a:endParaRPr lang="en-US" sz="1800" dirty="0"/>
          </a:p>
        </p:txBody>
      </p:sp>
      <p:sp>
        <p:nvSpPr>
          <p:cNvPr id="7" name="Column card 2"/>
          <p:cNvSpPr/>
          <p:nvPr/>
        </p:nvSpPr>
        <p:spPr>
          <a:xfrm>
            <a:off x="6208776" y="1554480"/>
            <a:ext cx="5431536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lumn heading 2"/>
          <p:cNvSpPr txBox="1"/>
          <p:nvPr/>
        </p:nvSpPr>
        <p:spPr>
          <a:xfrm>
            <a:off x="6528816" y="173736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Suggested next steps</a:t>
            </a:r>
            <a:endParaRPr lang="en-US" sz="2400" dirty="0"/>
          </a:p>
        </p:txBody>
      </p:sp>
      <p:sp>
        <p:nvSpPr>
          <p:cNvPr id="9" name="Column list 2"/>
          <p:cNvSpPr txBox="1"/>
          <p:nvPr/>
        </p:nvSpPr>
        <p:spPr>
          <a:xfrm>
            <a:off x="6528816" y="2423160"/>
            <a:ext cx="47914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Tune hyperparameters; Ridge and Stacking are already tied.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 numeric material descriptors instead of one-hot labels.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Check the non-Pb cells as their own subset.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Recalibrate the intervals to reach 90% coverage.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">
  <a:themeElements>
    <a:clrScheme name="Solar">
      <a:dk1>
        <a:srgbClr val="1A2233"/>
      </a:dk1>
      <a:lt1>
        <a:srgbClr val="FFFFFF"/>
      </a:lt1>
      <a:dk2>
        <a:srgbClr val="0B1F3A"/>
      </a:dk2>
      <a:lt2>
        <a:srgbClr val="EEF2F7"/>
      </a:lt2>
      <a:accent1>
        <a:srgbClr val="F5A623"/>
      </a:accent1>
      <a:accent2>
        <a:srgbClr val="0E7C86"/>
      </a:accent2>
      <a:accent3>
        <a:srgbClr val="D1495B"/>
      </a:accent3>
      <a:accent4>
        <a:srgbClr val="8AA1B8"/>
      </a:accent4>
      <a:accent5>
        <a:srgbClr val="2E4A6B"/>
      </a:accent5>
      <a:accent6>
        <a:srgbClr val="F7D488"/>
      </a:accent6>
      <a:hlink>
        <a:srgbClr val="0E7C86"/>
      </a:hlink>
      <a:folHlink>
        <a:srgbClr val="5B6B7F"/>
      </a:folHlink>
    </a:clrScheme>
    <a:fontScheme name="Sol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Perovskite Solar Cell Efficiency</dc:title>
  <dc:subject>PptxGenJS Presentation</dc:subject>
  <dc:creator>PptxGenJS</dc:creator>
  <cp:lastModifiedBy>PptxGenJS</cp:lastModifiedBy>
  <cp:revision>1</cp:revision>
  <dcterms:created xsi:type="dcterms:W3CDTF">2026-10-14T16:18:33Z</dcterms:created>
  <dcterms:modified xsi:type="dcterms:W3CDTF">2026-10-14T16:18:33Z</dcterms:modified>
</cp:coreProperties>
</file>